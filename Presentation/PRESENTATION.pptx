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753600" cy="7315200"/>
  <p:notesSz cx="6858000" cy="9144000"/>
  <p:embeddedFontLst>
    <p:embeddedFont>
      <p:font typeface="Times New Roman Bold" charset="1" panose="02020803070505020304"/>
      <p:regular r:id="rId17"/>
    </p:embeddedFont>
    <p:embeddedFont>
      <p:font typeface="Times New Roman" charset="1" panose="020206030504050203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764163" y="307933"/>
            <a:ext cx="5369221" cy="42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b="true" sz="2559" spc="-10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KONGU ENGINEERING COLLEGE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306640" y="4389106"/>
            <a:ext cx="1841254" cy="2291691"/>
            <a:chOff x="0" y="0"/>
            <a:chExt cx="2455006" cy="30555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55037" cy="3055620"/>
            </a:xfrm>
            <a:custGeom>
              <a:avLst/>
              <a:gdLst/>
              <a:ahLst/>
              <a:cxnLst/>
              <a:rect r="r" b="b" t="t" l="l"/>
              <a:pathLst>
                <a:path h="3055620" w="2455037">
                  <a:moveTo>
                    <a:pt x="0" y="0"/>
                  </a:moveTo>
                  <a:lnTo>
                    <a:pt x="2455037" y="0"/>
                  </a:lnTo>
                  <a:lnTo>
                    <a:pt x="2455037" y="3055620"/>
                  </a:lnTo>
                  <a:lnTo>
                    <a:pt x="0" y="3055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55" t="0" r="-4054" b="1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02093" y="1272627"/>
            <a:ext cx="1828157" cy="1589830"/>
            <a:chOff x="0" y="0"/>
            <a:chExt cx="2437542" cy="21197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7511" cy="2119757"/>
            </a:xfrm>
            <a:custGeom>
              <a:avLst/>
              <a:gdLst/>
              <a:ahLst/>
              <a:cxnLst/>
              <a:rect r="r" b="b" t="t" l="l"/>
              <a:pathLst>
                <a:path h="2119757" w="2437511">
                  <a:moveTo>
                    <a:pt x="0" y="0"/>
                  </a:moveTo>
                  <a:lnTo>
                    <a:pt x="2437511" y="0"/>
                  </a:lnTo>
                  <a:lnTo>
                    <a:pt x="2437511" y="2119757"/>
                  </a:lnTo>
                  <a:lnTo>
                    <a:pt x="0" y="2119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87" t="0" r="-2789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651060" y="5697833"/>
            <a:ext cx="6482324" cy="176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b="true" sz="2133" spc="-1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PRESENTED BY:</a:t>
            </a:r>
          </a:p>
          <a:p>
            <a:pPr algn="l">
              <a:lnSpc>
                <a:spcPts val="2304"/>
              </a:lnSpc>
            </a:pPr>
            <a:r>
              <a:rPr lang="en-US" b="true" sz="1920" spc="-9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VAISHNAVI S 23CSR231</a:t>
            </a:r>
          </a:p>
          <a:p>
            <a:pPr algn="l">
              <a:lnSpc>
                <a:spcPts val="2304"/>
              </a:lnSpc>
            </a:pPr>
            <a:r>
              <a:rPr lang="en-US" b="true" sz="1920" spc="-9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SREYA R 23CSR212</a:t>
            </a:r>
          </a:p>
          <a:p>
            <a:pPr algn="l">
              <a:lnSpc>
                <a:spcPts val="2304"/>
              </a:lnSpc>
            </a:pPr>
            <a:r>
              <a:rPr lang="en-US" b="true" sz="1920" spc="-9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SRI AKASH I M 23CSR213</a:t>
            </a:r>
          </a:p>
          <a:p>
            <a:pPr algn="l">
              <a:lnSpc>
                <a:spcPts val="2304"/>
              </a:lnSpc>
            </a:pPr>
            <a:r>
              <a:rPr lang="en-US" b="true" sz="1920" spc="-9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</a:t>
            </a:r>
          </a:p>
          <a:p>
            <a:pPr algn="l">
              <a:lnSpc>
                <a:spcPts val="2304"/>
              </a:lnSpc>
            </a:pPr>
            <a:r>
              <a:rPr lang="en-US" b="true" sz="1920" spc="-26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41554" y="1135423"/>
            <a:ext cx="559183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"/>
              </a:lnSpc>
            </a:pPr>
          </a:p>
          <a:p>
            <a:pPr algn="ctr">
              <a:lnSpc>
                <a:spcPts val="3071"/>
              </a:lnSpc>
            </a:pPr>
            <a:r>
              <a:rPr lang="en-US" b="true" sz="2559" spc="-10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COMPUTER SCIENCE AND ENGINEERING</a:t>
            </a:r>
          </a:p>
          <a:p>
            <a:pPr algn="l">
              <a:lnSpc>
                <a:spcPts val="23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348854" y="721995"/>
            <a:ext cx="536922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b="true" sz="2060" spc="-8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PERU</a:t>
            </a:r>
            <a:r>
              <a:rPr lang="en-US" b="true" sz="2060" spc="-8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NDURAI ERODE-638060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95657" y="2364148"/>
            <a:ext cx="5679217" cy="139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4"/>
              </a:lnSpc>
            </a:pPr>
          </a:p>
          <a:p>
            <a:pPr algn="l">
              <a:lnSpc>
                <a:spcPts val="2906"/>
              </a:lnSpc>
            </a:pPr>
            <a:r>
              <a:rPr lang="en-US" b="true" sz="2422" spc="-9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AI-B</a:t>
            </a:r>
            <a:r>
              <a:rPr lang="en-US" b="true" sz="2422" spc="-9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ASED AUTOMATIC</a:t>
            </a:r>
          </a:p>
          <a:p>
            <a:pPr algn="l">
              <a:lnSpc>
                <a:spcPts val="2906"/>
              </a:lnSpc>
            </a:pPr>
            <a:r>
              <a:rPr lang="en-US" b="true" sz="2422" spc="-9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ANSWER EVALUATION USING                     SEMANTIC SIMILARITY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30249" y="4360531"/>
            <a:ext cx="559183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</a:pPr>
          </a:p>
          <a:p>
            <a:pPr algn="l">
              <a:lnSpc>
                <a:spcPts val="2783"/>
              </a:lnSpc>
            </a:pPr>
            <a:r>
              <a:rPr lang="en-US" b="true" sz="2319" spc="-9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MENTOR:</a:t>
            </a:r>
            <a:r>
              <a:rPr lang="en-US" b="true" sz="2319" spc="-9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S.KARTHIKA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671008" y="2065380"/>
            <a:ext cx="5179700" cy="3884775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32000" y="639758"/>
            <a:ext cx="605671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b="true" sz="3413" spc="-10">
                <a:solidFill>
                  <a:srgbClr val="345D7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7961" y="2055855"/>
            <a:ext cx="3943047" cy="421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4455" indent="-137228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Scholarship information is scattered, causing wasted time and missed opportunities.</a:t>
            </a:r>
          </a:p>
          <a:p>
            <a:pPr algn="l" marL="274455" indent="-137228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applications require re-entering the same details repeatedly.</a:t>
            </a:r>
          </a:p>
          <a:p>
            <a:pPr algn="l" marL="274455" indent="-137228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automated alerts leads to missed deadlines and untracked applications.</a:t>
            </a:r>
          </a:p>
          <a:p>
            <a:pPr algn="l" marL="274455" indent="-137228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 is inefficient and lacks transparency, creating barriers for students.</a:t>
            </a:r>
          </a:p>
          <a:p>
            <a:pPr algn="l">
              <a:lnSpc>
                <a:spcPts val="2559"/>
              </a:lnSpc>
            </a:pP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" r="0" b="-2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57448" y="382583"/>
            <a:ext cx="605671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b="true" sz="3413" spc="-1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6676" y="1323975"/>
            <a:ext cx="8055449" cy="46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4"/>
              </a:lnSpc>
            </a:pPr>
            <a:r>
              <a:rPr lang="en-US" sz="2753" spc="-8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evalua</a:t>
            </a:r>
            <a:r>
              <a:rPr lang="en-US" sz="2753" spc="-8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tion of descriptive answers is:</a:t>
            </a:r>
          </a:p>
          <a:p>
            <a:pPr algn="just" marL="594572" indent="-297286" lvl="1">
              <a:lnSpc>
                <a:spcPts val="3304"/>
              </a:lnSpc>
              <a:buFont typeface="Arial"/>
              <a:buChar char="•"/>
            </a:pPr>
            <a:r>
              <a:rPr lang="en-US" sz="2753" spc="-8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</a:t>
            </a:r>
          </a:p>
          <a:p>
            <a:pPr algn="just" marL="594572" indent="-297286" lvl="1">
              <a:lnSpc>
                <a:spcPts val="3304"/>
              </a:lnSpc>
              <a:buFont typeface="Arial"/>
              <a:buChar char="•"/>
            </a:pPr>
            <a:r>
              <a:rPr lang="en-US" sz="2753" spc="-8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Subjective and inconsistent</a:t>
            </a:r>
          </a:p>
          <a:p>
            <a:pPr algn="just" marL="594572" indent="-297286" lvl="1">
              <a:lnSpc>
                <a:spcPts val="3304"/>
              </a:lnSpc>
              <a:buFont typeface="Arial"/>
              <a:buChar char="•"/>
            </a:pPr>
            <a:r>
              <a:rPr lang="en-US" sz="2753" spc="-8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 for large numbers of students</a:t>
            </a:r>
          </a:p>
          <a:p>
            <a:pPr algn="just" marL="594572" indent="-297286" lvl="1">
              <a:lnSpc>
                <a:spcPts val="3304"/>
              </a:lnSpc>
              <a:buFont typeface="Arial"/>
              <a:buChar char="•"/>
            </a:pPr>
            <a:r>
              <a:rPr lang="en-US" sz="2753" spc="-8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Prone to human errors</a:t>
            </a:r>
          </a:p>
          <a:p>
            <a:pPr algn="l" marL="594572" indent="-297286" lvl="1">
              <a:lnSpc>
                <a:spcPts val="3304"/>
              </a:lnSpc>
              <a:buFont typeface="Arial"/>
              <a:buChar char="•"/>
            </a:pPr>
            <a:r>
              <a:rPr lang="en-US" sz="2753" spc="-8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automated systems mostly depend on keyword matching, which cannot understand the actual meaning of student answers.</a:t>
            </a:r>
          </a:p>
          <a:p>
            <a:pPr algn="l" marL="594572" indent="-297286" lvl="1">
              <a:lnSpc>
                <a:spcPts val="3304"/>
              </a:lnSpc>
              <a:buFont typeface="Arial"/>
              <a:buChar char="•"/>
            </a:pPr>
            <a:r>
              <a:rPr lang="en-US" sz="2753" spc="-8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Hence, there is a need for an intelligent system that evaluates answers based on semantic understanding rather than exact word matching.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214561" y="455273"/>
            <a:ext cx="605671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b="true" sz="3413" spc="-1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1027" y="1182973"/>
            <a:ext cx="8152111" cy="5059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238" indent="-195119" lvl="1">
              <a:lnSpc>
                <a:spcPts val="4003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evelop an AI-based descriptive answer evaluation system.</a:t>
            </a:r>
          </a:p>
          <a:p>
            <a:pPr algn="l" marL="390238" indent="-195119" lvl="1">
              <a:lnSpc>
                <a:spcPts val="4003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</a:t>
            </a: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erstand the semantic meaning of student answers.</a:t>
            </a:r>
          </a:p>
          <a:p>
            <a:pPr algn="l" marL="390238" indent="-195119" lvl="1">
              <a:lnSpc>
                <a:spcPts val="4003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</a:t>
            </a: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student answers with model answers using NLP.</a:t>
            </a:r>
          </a:p>
          <a:p>
            <a:pPr algn="l" marL="390238" indent="-195119" lvl="1">
              <a:lnSpc>
                <a:spcPts val="4003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similarity scores automatically.</a:t>
            </a:r>
          </a:p>
          <a:p>
            <a:pPr algn="l" marL="390238" indent="-195119" lvl="1">
              <a:lnSpc>
                <a:spcPts val="4003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 marks fairly and consistently.</a:t>
            </a:r>
          </a:p>
          <a:p>
            <a:pPr algn="l" marL="390238" indent="-195119" lvl="1">
              <a:lnSpc>
                <a:spcPts val="4003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meaningful feedback.</a:t>
            </a:r>
          </a:p>
          <a:p>
            <a:pPr algn="l" marL="390238" indent="-195119" lvl="1">
              <a:lnSpc>
                <a:spcPts val="4003"/>
              </a:lnSpc>
              <a:buFont typeface="Arial"/>
              <a:buChar char="•"/>
            </a:pPr>
            <a:r>
              <a:rPr lang="en-US" sz="3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teachers' evaluation time.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</p:grpSp>
      <p:graphicFrame>
        <p:nvGraphicFramePr>
          <p:cNvPr name="Object 4" id="4"/>
          <p:cNvGraphicFramePr/>
          <p:nvPr/>
        </p:nvGraphicFramePr>
        <p:xfrm>
          <a:off x="878163" y="864930"/>
          <a:ext cx="7543800" cy="1885950"/>
        </p:xfrm>
        <a:graphic>
          <a:graphicData uri="http://schemas.openxmlformats.org/presentationml/2006/ole">
            <p:oleObj imgW="9042400" imgH="3390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724549" y="198120"/>
            <a:ext cx="605671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6"/>
              </a:lnSpc>
            </a:pPr>
            <a:r>
              <a:rPr lang="en-US" b="true" sz="3313" spc="-1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SURVEY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9525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16044" y="198076"/>
            <a:ext cx="670603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b="true" sz="3413" spc="-1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GAP IDENTIFIED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7089" y="816628"/>
            <a:ext cx="8442741" cy="634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9275" indent="-219637" lvl="1">
              <a:lnSpc>
                <a:spcPts val="3397"/>
              </a:lnSpc>
              <a:buFont typeface="Arial"/>
              <a:buChar char="•"/>
            </a:pPr>
            <a:r>
              <a:rPr lang="en-US" sz="2034" spc="52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existing systems are designed primarily for short answer grading and are not suitable for ev</a:t>
            </a:r>
            <a:r>
              <a:rPr lang="en-US" sz="2034" spc="52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aluating</a:t>
            </a:r>
            <a:r>
              <a:rPr lang="en-US" sz="2034" spc="52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long descriptive answers.</a:t>
            </a:r>
          </a:p>
          <a:p>
            <a:pPr algn="just" marL="439275" indent="-219637" lvl="1">
              <a:lnSpc>
                <a:spcPts val="3397"/>
              </a:lnSpc>
              <a:buFont typeface="Arial"/>
              <a:buChar char="•"/>
            </a:pPr>
            <a:r>
              <a:rPr lang="en-US" sz="2034" spc="52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approaches mainly focus on semantic similarity or answer retrieval, but do not provide a complete solution that includes automatic mark allocation and feedback generation.</a:t>
            </a:r>
          </a:p>
          <a:p>
            <a:pPr algn="just" marL="439275" indent="-219637" lvl="1">
              <a:lnSpc>
                <a:spcPts val="3397"/>
              </a:lnSpc>
              <a:buFont typeface="Arial"/>
              <a:buChar char="•"/>
            </a:pPr>
            <a:r>
              <a:rPr lang="en-US" sz="2034" spc="52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deep learning and LLM-based models require high computational resources, making them difficult to deploy in educational institutions with limited infrastructure.</a:t>
            </a:r>
          </a:p>
          <a:p>
            <a:pPr algn="just" marL="439275" indent="-219637" lvl="1">
              <a:lnSpc>
                <a:spcPts val="3397"/>
              </a:lnSpc>
              <a:buFont typeface="Arial"/>
              <a:buChar char="•"/>
            </a:pPr>
            <a:r>
              <a:rPr lang="en-US" sz="2034" spc="52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and constructive feedback for students is often limited or absent.</a:t>
            </a:r>
          </a:p>
          <a:p>
            <a:pPr algn="just" marL="439275" indent="-219637" lvl="1">
              <a:lnSpc>
                <a:spcPts val="3397"/>
              </a:lnSpc>
              <a:buFont typeface="Arial"/>
              <a:buChar char="•"/>
            </a:pPr>
            <a:r>
              <a:rPr lang="en-US" sz="2034" spc="52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there is a need for an efficient AI-based system that can evaluate descriptive answers using semantic similarity, automatically assign marks, and generate meaningful feedback in a scalable and user-friendly manner.</a:t>
            </a:r>
          </a:p>
          <a:p>
            <a:pPr algn="just">
              <a:lnSpc>
                <a:spcPts val="339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534842" y="335938"/>
            <a:ext cx="605671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b="true" sz="3413" spc="-1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7043" y="1404556"/>
            <a:ext cx="8607982" cy="429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  <a:spcBef>
                <a:spcPct val="0"/>
              </a:spcBef>
            </a:pPr>
            <a:r>
              <a:rPr lang="en-US" sz="3513" spc="-1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Work</a:t>
            </a:r>
          </a:p>
          <a:p>
            <a:pPr algn="l">
              <a:lnSpc>
                <a:spcPts val="4215"/>
              </a:lnSpc>
            </a:pPr>
            <a:r>
              <a:rPr lang="en-US" sz="3513" spc="-1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AI-powered automatic descriptive answer evaluation system using:</a:t>
            </a:r>
          </a:p>
          <a:p>
            <a:pPr algn="l" marL="758528" indent="-379264" lvl="1">
              <a:lnSpc>
                <a:spcPts val="4215"/>
              </a:lnSpc>
              <a:buFont typeface="Arial"/>
              <a:buChar char="•"/>
            </a:pPr>
            <a:r>
              <a:rPr lang="en-US" sz="3513" spc="-1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Language Processing (NLP)</a:t>
            </a:r>
          </a:p>
          <a:p>
            <a:pPr algn="l" marL="758528" indent="-379264" lvl="1">
              <a:lnSpc>
                <a:spcPts val="4215"/>
              </a:lnSpc>
              <a:buFont typeface="Arial"/>
              <a:buChar char="•"/>
            </a:pPr>
            <a:r>
              <a:rPr lang="en-US" sz="3513" spc="-1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Embeddings</a:t>
            </a:r>
          </a:p>
          <a:p>
            <a:pPr algn="l" marL="758528" indent="-379264" lvl="1">
              <a:lnSpc>
                <a:spcPts val="4215"/>
              </a:lnSpc>
              <a:buFont typeface="Arial"/>
              <a:buChar char="•"/>
            </a:pPr>
            <a:r>
              <a:rPr lang="en-US" sz="3513" spc="-1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Similarity</a:t>
            </a:r>
          </a:p>
          <a:p>
            <a:pPr algn="l" marL="758528" indent="-379264" lvl="1">
              <a:lnSpc>
                <a:spcPts val="4215"/>
              </a:lnSpc>
              <a:buFont typeface="Arial"/>
              <a:buChar char="•"/>
            </a:pPr>
            <a:r>
              <a:rPr lang="en-US" sz="3513" spc="-1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Mark Allocation</a:t>
            </a:r>
          </a:p>
          <a:p>
            <a:pPr algn="l" marL="758528" indent="-379264" lvl="1">
              <a:lnSpc>
                <a:spcPts val="4215"/>
              </a:lnSpc>
              <a:buFont typeface="Arial"/>
              <a:buChar char="•"/>
            </a:pPr>
            <a:r>
              <a:rPr lang="en-US" sz="3513" spc="-10">
                <a:solidFill>
                  <a:srgbClr val="2021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Feedback Generation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69089" y="272804"/>
            <a:ext cx="5604260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3258" b="true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PLANNED INNOVATION</a:t>
            </a:r>
          </a:p>
          <a:p>
            <a:pPr algn="l">
              <a:lnSpc>
                <a:spcPts val="3910"/>
              </a:lnSpc>
            </a:pPr>
          </a:p>
          <a:p>
            <a:pPr algn="l">
              <a:lnSpc>
                <a:spcPts val="3910"/>
              </a:lnSpc>
            </a:pPr>
          </a:p>
          <a:p>
            <a:pPr algn="l">
              <a:lnSpc>
                <a:spcPts val="391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28003" y="1353183"/>
            <a:ext cx="7844681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36"/>
              </a:lnSpc>
            </a:pP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✔S</a:t>
            </a: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emantic understa</a:t>
            </a: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nding instead of keyword matching</a:t>
            </a:r>
          </a:p>
          <a:p>
            <a:pPr algn="just">
              <a:lnSpc>
                <a:spcPts val="4436"/>
              </a:lnSpc>
            </a:pP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AI-generated personalized feedback</a:t>
            </a:r>
          </a:p>
          <a:p>
            <a:pPr algn="just">
              <a:lnSpc>
                <a:spcPts val="4436"/>
              </a:lnSpc>
            </a:pP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Automatic mark calculation</a:t>
            </a:r>
          </a:p>
          <a:p>
            <a:pPr algn="just">
              <a:lnSpc>
                <a:spcPts val="4436"/>
              </a:lnSpc>
            </a:pP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</a:t>
            </a: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multiple wri</a:t>
            </a: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ting styles</a:t>
            </a:r>
          </a:p>
          <a:p>
            <a:pPr algn="just">
              <a:lnSpc>
                <a:spcPts val="4436"/>
              </a:lnSpc>
            </a:pP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Faster evaluation</a:t>
            </a:r>
          </a:p>
          <a:p>
            <a:pPr algn="just">
              <a:lnSpc>
                <a:spcPts val="4436"/>
              </a:lnSpc>
            </a:pP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</a:t>
            </a: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for educ</a:t>
            </a: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ational i</a:t>
            </a:r>
            <a:r>
              <a:rPr lang="en-US" sz="36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nstitutions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42262" y="1034574"/>
            <a:ext cx="8631904" cy="5754603"/>
          </a:xfrm>
          <a:custGeom>
            <a:avLst/>
            <a:gdLst/>
            <a:ahLst/>
            <a:cxnLst/>
            <a:rect r="r" b="b" t="t" l="l"/>
            <a:pathLst>
              <a:path h="5754603" w="8631904">
                <a:moveTo>
                  <a:pt x="0" y="0"/>
                </a:moveTo>
                <a:lnTo>
                  <a:pt x="8631904" y="0"/>
                </a:lnTo>
                <a:lnTo>
                  <a:pt x="8631904" y="5754603"/>
                </a:lnTo>
                <a:lnTo>
                  <a:pt x="0" y="5754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68689" y="198120"/>
            <a:ext cx="605671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6"/>
              </a:lnSpc>
            </a:pPr>
            <a:r>
              <a:rPr lang="en-US" sz="3313" b="true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ARCHITECTURE 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56031" y="1043754"/>
            <a:ext cx="8494210" cy="5662806"/>
          </a:xfrm>
          <a:custGeom>
            <a:avLst/>
            <a:gdLst/>
            <a:ahLst/>
            <a:cxnLst/>
            <a:rect r="r" b="b" t="t" l="l"/>
            <a:pathLst>
              <a:path h="5662806" w="8494210">
                <a:moveTo>
                  <a:pt x="0" y="0"/>
                </a:moveTo>
                <a:lnTo>
                  <a:pt x="8494210" y="0"/>
                </a:lnTo>
                <a:lnTo>
                  <a:pt x="8494210" y="5662806"/>
                </a:lnTo>
                <a:lnTo>
                  <a:pt x="0" y="5662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68689" y="198120"/>
            <a:ext cx="605671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6"/>
              </a:lnSpc>
            </a:pPr>
            <a:r>
              <a:rPr lang="en-US" sz="3313" b="true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MODULES OF A PROJECT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05924" y="887294"/>
            <a:ext cx="5871030" cy="2818095"/>
          </a:xfrm>
          <a:custGeom>
            <a:avLst/>
            <a:gdLst/>
            <a:ahLst/>
            <a:cxnLst/>
            <a:rect r="r" b="b" t="t" l="l"/>
            <a:pathLst>
              <a:path h="2818095" w="5871030">
                <a:moveTo>
                  <a:pt x="0" y="0"/>
                </a:moveTo>
                <a:lnTo>
                  <a:pt x="5871030" y="0"/>
                </a:lnTo>
                <a:lnTo>
                  <a:pt x="5871030" y="2818094"/>
                </a:lnTo>
                <a:lnTo>
                  <a:pt x="0" y="28180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01024" y="3946411"/>
            <a:ext cx="5481399" cy="3131385"/>
          </a:xfrm>
          <a:custGeom>
            <a:avLst/>
            <a:gdLst/>
            <a:ahLst/>
            <a:cxnLst/>
            <a:rect r="r" b="b" t="t" l="l"/>
            <a:pathLst>
              <a:path h="3131385" w="5481399">
                <a:moveTo>
                  <a:pt x="0" y="0"/>
                </a:moveTo>
                <a:lnTo>
                  <a:pt x="5481399" y="0"/>
                </a:lnTo>
                <a:lnTo>
                  <a:pt x="5481399" y="3131385"/>
                </a:lnTo>
                <a:lnTo>
                  <a:pt x="0" y="31313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35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66594" y="207645"/>
            <a:ext cx="562041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6"/>
              </a:lnSpc>
              <a:spcBef>
                <a:spcPct val="0"/>
              </a:spcBef>
            </a:pPr>
            <a:r>
              <a:rPr lang="en-US" b="true" sz="3313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41071" y="909580"/>
            <a:ext cx="6446542" cy="2748020"/>
          </a:xfrm>
          <a:custGeom>
            <a:avLst/>
            <a:gdLst/>
            <a:ahLst/>
            <a:cxnLst/>
            <a:rect r="r" b="b" t="t" l="l"/>
            <a:pathLst>
              <a:path h="2748020" w="6446542">
                <a:moveTo>
                  <a:pt x="0" y="0"/>
                </a:moveTo>
                <a:lnTo>
                  <a:pt x="6446542" y="0"/>
                </a:lnTo>
                <a:lnTo>
                  <a:pt x="6446542" y="2748020"/>
                </a:lnTo>
                <a:lnTo>
                  <a:pt x="0" y="2748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682" r="-19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63862" y="4101080"/>
            <a:ext cx="6015809" cy="2887588"/>
          </a:xfrm>
          <a:custGeom>
            <a:avLst/>
            <a:gdLst/>
            <a:ahLst/>
            <a:cxnLst/>
            <a:rect r="r" b="b" t="t" l="l"/>
            <a:pathLst>
              <a:path h="2887588" w="6015809">
                <a:moveTo>
                  <a:pt x="0" y="0"/>
                </a:moveTo>
                <a:lnTo>
                  <a:pt x="6015808" y="0"/>
                </a:lnTo>
                <a:lnTo>
                  <a:pt x="6015808" y="2887588"/>
                </a:lnTo>
                <a:lnTo>
                  <a:pt x="0" y="2887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DAG1TzRuRKg</dc:identifier>
  <dcterms:modified xsi:type="dcterms:W3CDTF">2011-08-01T06:04:30Z</dcterms:modified>
  <cp:revision>1</cp:revision>
  <dc:title>AGILE PPT II.pptx</dc:title>
</cp:coreProperties>
</file>